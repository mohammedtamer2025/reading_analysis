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82362-9AA3-4D1F-FFBF-914C62A5DD3E}" v="34" dt="2026-08-21T20:18:5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Reader Segments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6E-476F-878E-D345B1570CB2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6E-476F-878E-D345B1570CB2}"/>
              </c:ext>
            </c:extLst>
          </c:dPt>
          <c:dPt>
            <c:idx val="2"/>
            <c:bubble3D val="0"/>
            <c:spPr>
              <a:solidFill>
                <a:srgbClr val="C99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6E-476F-878E-D345B1570CB2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6E-476F-878E-D345B1570CB2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6E-476F-878E-D345B1570CB2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16E-476F-878E-D345B1570CB2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Light (1-9 books)</c:v>
                </c:pt>
                <c:pt idx="1">
                  <c:v>Heavy (≥10 books)</c:v>
                </c:pt>
                <c:pt idx="2">
                  <c:v>Non-reader (0 books)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57.6</c:v>
                </c:pt>
                <c:pt idx="1">
                  <c:v>22.6</c:v>
                </c:pt>
                <c:pt idx="2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6E-476F-878E-D345B1570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B1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books/year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AD-4B93-AC38-36607EE02A1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CAD-4B93-AC38-36607EE02A1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CAD-4B93-AC38-36607EE02A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CAD-4B93-AC38-36607EE02A12}"/>
              </c:ext>
            </c:extLst>
          </c:dPt>
          <c:dPt>
            <c:idx val="4"/>
            <c:invertIfNegative val="0"/>
            <c:bubble3D val="0"/>
            <c:spPr>
              <a:solidFill>
                <a:srgbClr val="C99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CAD-4B93-AC38-36607EE02A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1B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HS incomplete</c:v>
                </c:pt>
                <c:pt idx="1">
                  <c:v>HS graduate</c:v>
                </c:pt>
                <c:pt idx="2">
                  <c:v>Some college</c:v>
                </c:pt>
                <c:pt idx="3">
                  <c:v>College grad</c:v>
                </c:pt>
                <c:pt idx="4">
                  <c:v>Post-graduate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18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CAD-4B93-AC38-36607EE02A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books/year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B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Under $30K</c:v>
                </c:pt>
                <c:pt idx="1">
                  <c:v>$30K–$50K</c:v>
                </c:pt>
                <c:pt idx="2">
                  <c:v>$50K–$75K</c:v>
                </c:pt>
                <c:pt idx="3">
                  <c:v>$75K–$100K</c:v>
                </c:pt>
                <c:pt idx="4">
                  <c:v>$100K–$150K</c:v>
                </c:pt>
                <c:pt idx="5">
                  <c:v>$150K+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17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C7-4680-B58C-2CBECD39FA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books/year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55-64</c:v>
                </c:pt>
                <c:pt idx="5">
                  <c:v>65-74</c:v>
                </c:pt>
                <c:pt idx="6">
                  <c:v>75+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18</c:v>
                </c:pt>
                <c:pt idx="6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FE-41EA-97E4-4D81906D0F1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readers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1B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Printed books</c:v>
                </c:pt>
                <c:pt idx="1">
                  <c:v>E-books</c:v>
                </c:pt>
                <c:pt idx="2">
                  <c:v>Audiobooks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33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F-43FE-A1EA-8487457312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C99B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B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Purchase</c:v>
                </c:pt>
                <c:pt idx="1">
                  <c:v>Borrow (friends/family)</c:v>
                </c:pt>
                <c:pt idx="2">
                  <c:v>Borrow (library)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1266</c:v>
                </c:pt>
                <c:pt idx="1">
                  <c:v>501</c:v>
                </c:pt>
                <c:pt idx="2">
                  <c:v>335</c:v>
                </c:pt>
                <c:pt idx="3">
                  <c:v>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00-4125-BCDB-17723187A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5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strength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BC-4237-9B1B-ABC9E344602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BC-4237-9B1B-ABC9E344602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BC-4237-9B1B-ABC9E344602D}"/>
              </c:ext>
            </c:extLst>
          </c:dPt>
          <c:dPt>
            <c:idx val="3"/>
            <c:invertIfNegative val="0"/>
            <c:bubble3D val="0"/>
            <c:spPr>
              <a:solidFill>
                <a:srgbClr val="C99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BC-4237-9B1B-ABC9E344602D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BC-4237-9B1B-ABC9E344602D}"/>
              </c:ext>
            </c:extLst>
          </c:dPt>
          <c:cat>
            <c:strRef>
              <c:f>Sheet1!$A$2:$A$6</c:f>
              <c:strCache>
                <c:ptCount val="5"/>
                <c:pt idx="0">
                  <c:v>Retired (employment)</c:v>
                </c:pt>
                <c:pt idx="1">
                  <c:v>Gender</c:v>
                </c:pt>
                <c:pt idx="2">
                  <c:v>Age</c:v>
                </c:pt>
                <c:pt idx="3">
                  <c:v>Income</c:v>
                </c:pt>
                <c:pt idx="4">
                  <c:v>Education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3.3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BC-4237-9B1B-ABC9E34460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0659A-6BE1-434D-90CE-2C2CAB7C055E}" type="datetimeFigureOut"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C4999-6141-43F0-9965-829701DFC1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3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926080" cy="2926080"/>
          </a:xfrm>
          <a:prstGeom prst="ellipse">
            <a:avLst/>
          </a:prstGeom>
          <a:solidFill>
            <a:srgbClr val="2B3878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4306B"/>
          </a:solidFill>
          <a:ln/>
        </p:spPr>
      </p:sp>
      <p:pic>
        <p:nvPicPr>
          <p:cNvPr id="5" name="Image 0" descr="/home/claude/reading_deck/NTI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1172954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BEHAVIOR STUDY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Reading Behavior?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exploration of American reading habits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4206240" cy="1051560"/>
          </a:xfrm>
          <a:prstGeom prst="rect">
            <a:avLst/>
          </a:prstGeom>
          <a:solidFill>
            <a:srgbClr val="252F6B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977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2,832</a:t>
            </a:r>
            <a:endParaRPr lang="en-US" sz="30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surveyed on book-reading habits, demographics &amp; media consumption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BigML American Reading Survey  •  Data Analysis Summary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This Matter?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reads, and how much, informs decisions across four sectors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23317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36192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marketing and distribution to the readers most likely to buy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6704" y="1783080"/>
            <a:ext cx="2542032" cy="23317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3483864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9584" y="3136392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 and programs to the communities that need them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783080"/>
            <a:ext cx="2542032" cy="23317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6281928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Policy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3136392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literacy trends and lifelong learning outcomes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42832" y="1783080"/>
            <a:ext cx="2542032" cy="2331720"/>
          </a:xfrm>
          <a:prstGeom prst="rect">
            <a:avLst/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9AA5C7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30384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30384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9079992" y="27432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Companies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25712" y="3136392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content strategy around real audience reading behavior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9167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864608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heavy readers based solely on demographic features?</a:t>
            </a:r>
            <a:endParaRPr lang="en-US" sz="2000" dirty="0"/>
          </a:p>
        </p:txBody>
      </p:sp>
      <p:pic>
        <p:nvPicPr>
          <p:cNvPr id="27" name="Image 0" descr="/home/claude/reading_deck/N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cleaned, imputation-ready dataset built for reliable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2,832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02152"/>
            <a:ext cx="3246120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0215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3708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captured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3246120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175504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Cambria"/>
                <a:ea typeface="Cambria"/>
              </a:rPr>
              <a:t>Kagg</a:t>
            </a:r>
            <a:r>
              <a:rPr lang="en-US" sz="3000" b="1" dirty="0">
                <a:solidFill>
                  <a:srgbClr val="1E2761"/>
                </a:solidFill>
                <a:latin typeface="Cambria"/>
                <a:ea typeface="Cambria"/>
              </a:rPr>
              <a:t>le</a:t>
            </a:r>
          </a:p>
        </p:txBody>
      </p:sp>
      <p:sp>
        <p:nvSpPr>
          <p:cNvPr id="12" name="Text 10"/>
          <p:cNvSpPr/>
          <p:nvPr/>
        </p:nvSpPr>
        <p:spPr>
          <a:xfrm>
            <a:off x="777240" y="60441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03320" y="1828800"/>
            <a:ext cx="7936992" cy="4343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084832"/>
            <a:ext cx="7296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2606040"/>
            <a:ext cx="100584" cy="100584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270248" y="2583701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missing in Education; 390 in reading columns (non-readers skipped)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0" y="3214116"/>
            <a:ext cx="100584" cy="100584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8" name="Text 16"/>
          <p:cNvSpPr/>
          <p:nvPr/>
        </p:nvSpPr>
        <p:spPr>
          <a:xfrm>
            <a:off x="4270248" y="3170901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error fixed: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“9$100,000 to under $150,000” corrected to “$100,000 to under $150,000”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23360" y="3822192"/>
            <a:ext cx="100584" cy="100584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270248" y="3789416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naming: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“Employement” renamed to “employment”; all columns standardized to snake_case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23360" y="4430268"/>
            <a:ext cx="100584" cy="100584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22" name="Text 20"/>
          <p:cNvSpPr/>
          <p:nvPr/>
        </p:nvSpPr>
        <p:spPr>
          <a:xfrm>
            <a:off x="4270248" y="4397492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Education: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using the mode: “High school graduate”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5038344"/>
            <a:ext cx="100584" cy="100584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24" name="Text 22"/>
          <p:cNvSpPr/>
          <p:nvPr/>
        </p:nvSpPr>
        <p:spPr>
          <a:xfrm>
            <a:off x="4270248" y="5005568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columns: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Non-readers set to 0; others imputed with the median by education level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23360" y="5646420"/>
            <a:ext cx="100584" cy="100584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26" name="Text 24"/>
          <p:cNvSpPr/>
          <p:nvPr/>
        </p:nvSpPr>
        <p:spPr>
          <a:xfrm>
            <a:off x="4270248" y="5624082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— values capped at the upper fence</a:t>
            </a:r>
            <a:endParaRPr lang="en-US" sz="1150" dirty="0"/>
          </a:p>
        </p:txBody>
      </p:sp>
      <p:pic>
        <p:nvPicPr>
          <p:cNvPr id="27" name="Image 0" descr="/home/claude/reading_deck/N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Reads?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Americans read at least one book in the past year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37360"/>
            <a:ext cx="533095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737360"/>
            <a:ext cx="4782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books/year</a:t>
            </a:r>
            <a:endParaRPr lang="en-US" sz="26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reading rate across all respondents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309360" y="3200400"/>
            <a:ext cx="109728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3172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readers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37960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respondents — 22.6% read ≥10 books/year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4069080"/>
            <a:ext cx="109728" cy="713232"/>
          </a:xfrm>
          <a:prstGeom prst="rect">
            <a:avLst/>
          </a:prstGeom>
          <a:solidFill>
            <a:srgbClr val="3E4A8C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4041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readers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37960" y="4361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1,631 respondents — 57.6% read 1–9 books/year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4937760"/>
            <a:ext cx="109728" cy="713232"/>
          </a:xfrm>
          <a:prstGeom prst="rect">
            <a:avLst/>
          </a:prstGeom>
          <a:solidFill>
            <a:srgbClr val="C99B4A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4910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Non-readers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37960" y="5230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 respondents — 19.8% read 0 books last year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09360" y="571500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right-skewed: most readers read a few books, while a smaller, dedicated group reads heavily.</a:t>
            </a:r>
            <a:endParaRPr lang="en-US" sz="1100" dirty="0"/>
          </a:p>
        </p:txBody>
      </p:sp>
      <p:pic>
        <p:nvPicPr>
          <p:cNvPr id="17" name="Image 0" descr="/home/claude/reading_deck/N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Is the #1 Predictor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books read per year, by highest education level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7040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87952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9659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286000"/>
            <a:ext cx="3639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college graduate is more likely to be a heavy reader than a high school graduate, all else being equal.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726680" y="3977640"/>
            <a:ext cx="3639312" cy="0"/>
          </a:xfrm>
          <a:prstGeom prst="line">
            <a:avLst/>
          </a:prstGeom>
          <a:noFill/>
          <a:ln w="12700">
            <a:solidFill>
              <a:srgbClr val="3E4A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4160520"/>
            <a:ext cx="36393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regression model confirms education carries the largest coefficient of any feature — the strongest single predictor of heavy reading.</a:t>
            </a:r>
            <a:endParaRPr lang="en-US" sz="1250" dirty="0"/>
          </a:p>
        </p:txBody>
      </p:sp>
      <p:pic>
        <p:nvPicPr>
          <p:cNvPr id="10" name="Image 0" descr="/home/claude/reading_deck/N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&amp; Gender Also Matter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demographic signals that correlate with reading volume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BOOKS/YEAR BY INCOME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1965960"/>
          <a:ext cx="60350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6916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BY GENDER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92240" y="2057400"/>
            <a:ext cx="5148072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0" y="2057400"/>
            <a:ext cx="4599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</a:t>
            </a:r>
            <a:endParaRPr lang="en-US" sz="3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books/year — Female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6492240" y="3611880"/>
            <a:ext cx="5148072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3611880"/>
            <a:ext cx="4599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</a:t>
            </a:r>
            <a:endParaRPr lang="en-US" sz="3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books/year — Male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492240" y="5193792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read 6.3 more books/year than men on average — though the gap narrows once education and income are controlled for.</a:t>
            </a:r>
            <a:endParaRPr lang="en-US" sz="1100" dirty="0"/>
          </a:p>
        </p:txBody>
      </p:sp>
      <p:pic>
        <p:nvPicPr>
          <p:cNvPr id="12" name="Image 0" descr="/home/claude/reading_deck/N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Has a Non-Linear Relationship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peaks in the retirement years, not at the oldest ages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737360"/>
          <a:ext cx="7315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67912" cy="1874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37360"/>
            <a:ext cx="33192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books/yr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65–74 read the most of any group — reading peaks in retirement, not steadily with age.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772400" y="3794760"/>
            <a:ext cx="3867912" cy="18745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40233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343400"/>
            <a:ext cx="3319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respondents read slightly more on average. Employment status offers some signal, but is far less powerful than education or income.</a:t>
            </a:r>
            <a:endParaRPr lang="en-US" sz="1150" dirty="0"/>
          </a:p>
        </p:txBody>
      </p:sp>
      <p:pic>
        <p:nvPicPr>
          <p:cNvPr id="10" name="Image 0" descr="/home/claude/reading_deck/N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People Read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books still dominate, even as digital formats gain 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PREFERENCE (AMONG READERS)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1965960"/>
          <a:ext cx="5394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READERS ACQUIRE BOOKS</a:t>
            </a:r>
            <a:endParaRPr lang="en-US" sz="10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228600" y="4434840"/>
          <a:ext cx="5394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720840" y="1691640"/>
            <a:ext cx="4919472" cy="4709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7040880" y="196596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CONSUMPTION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040880" y="2423160"/>
            <a:ext cx="4279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61.8%</a:t>
            </a:r>
            <a:endParaRPr lang="en-US" sz="320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daily news or newspapers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7040880" y="3703320"/>
            <a:ext cx="4279392" cy="0"/>
          </a:xfrm>
          <a:prstGeom prst="line">
            <a:avLst/>
          </a:prstGeom>
          <a:noFill/>
          <a:ln w="12700">
            <a:solidFill>
              <a:srgbClr val="3E4A8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40880" y="3886200"/>
            <a:ext cx="4279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53.2%</a:t>
            </a:r>
            <a:endParaRPr lang="en-US" sz="320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magazines or journals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7040880" y="5166360"/>
            <a:ext cx="4279392" cy="0"/>
          </a:xfrm>
          <a:prstGeom prst="line">
            <a:avLst/>
          </a:prstGeom>
          <a:noFill/>
          <a:ln w="12700">
            <a:solidFill>
              <a:srgbClr val="3E4A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040880" y="5349240"/>
            <a:ext cx="4279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habits extend beyond books into news and periodicals for a majority of respondents.</a:t>
            </a:r>
            <a:endParaRPr lang="en-US" sz="1100" dirty="0"/>
          </a:p>
        </p:txBody>
      </p:sp>
      <p:pic>
        <p:nvPicPr>
          <p:cNvPr id="15" name="Image 0" descr="/home/claude/reading_deck/NTI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Heavy Readers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classifying heavy readers (≥10 books) vs. all others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(MODEL COEFFICIENTS)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96596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691640"/>
            <a:ext cx="5193792" cy="1920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87452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20840" y="2194560"/>
            <a:ext cx="4645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race, education, employment, income, and marital status.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3794760"/>
            <a:ext cx="5193792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397764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4297680"/>
            <a:ext cx="4645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accuracy improvement over a random baseline, using balanced class weights to correct for the 22.6% heavy-reader imbalance. Education and income are the dominant factors in every prediction.</a:t>
            </a:r>
            <a:endParaRPr lang="en-US" sz="1150" dirty="0"/>
          </a:p>
        </p:txBody>
      </p:sp>
      <p:pic>
        <p:nvPicPr>
          <p:cNvPr id="12" name="Image 0" descr="/home/claude/reading_deck/N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6492240" cy="507492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002536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7" name="Text 5"/>
          <p:cNvSpPr/>
          <p:nvPr/>
        </p:nvSpPr>
        <p:spPr>
          <a:xfrm>
            <a:off x="1139033" y="1961910"/>
            <a:ext cx="5644437" cy="59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Americans read at least one book last year — median of 6 books/year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628900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88274"/>
            <a:ext cx="5623560" cy="56692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the #1 predictor: post-graduates read ~2x more than HS dropouts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255264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04200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strongly correlates — higher earners read more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81628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3056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non-linear: reading peaks among 65–74 year-olds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507992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5692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read more than men: 19.7 vs. 13.4 books/year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134356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093730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still dominates (93%), though 33% also read e-books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5760720"/>
            <a:ext cx="91440" cy="91440"/>
          </a:xfrm>
          <a:prstGeom prst="ellipse">
            <a:avLst/>
          </a:prstGeom>
          <a:solidFill>
            <a:srgbClr val="C99B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72009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model predicts heavy readers with meaningful accuracy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60920" y="1280160"/>
            <a:ext cx="4279392" cy="5074920"/>
          </a:xfrm>
          <a:prstGeom prst="rect">
            <a:avLst/>
          </a:prstGeom>
          <a:solidFill>
            <a:srgbClr val="F3E6CC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15087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20025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0" y="1878403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“97” represents “97 or more” books — likely underestimates heavy readers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35240" y="30632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970422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may carry response bias (readers more likely to respond)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40" y="412394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010249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demographic features used; psychological and lifestyle data would improve predictions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35240" y="518464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5144022"/>
            <a:ext cx="3502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period or geographic information included</a:t>
            </a:r>
            <a:endParaRPr lang="en-US" sz="1150" dirty="0"/>
          </a:p>
        </p:txBody>
      </p:sp>
      <p:pic>
        <p:nvPicPr>
          <p:cNvPr id="30" name="Image 0" descr="/home/claude/reading_deck/NTI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54496"/>
            <a:ext cx="605396" cy="29260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Reading Behavior?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24</cp:revision>
  <dcterms:created xsi:type="dcterms:W3CDTF">2026-08-21T19:57:19Z</dcterms:created>
  <dcterms:modified xsi:type="dcterms:W3CDTF">2026-08-21T20:21:54Z</dcterms:modified>
</cp:coreProperties>
</file>