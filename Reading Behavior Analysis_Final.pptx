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2.xml"/>
  <Override ContentType="application/vnd.openxmlformats-officedocument.drawingml.chart+xml" PartName="/ppt/charts/chart1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jwCuTMToxyEKXvvmcQT1KTNgii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slide" Target="slides/slide17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charts/_rels/chart1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readers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50" b="0" i="0" u="none" strike="noStrike">
                    <a:solidFill>
                      <a:srgbClr val="1B1B1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Printed books</c:v>
                </c:pt>
                <c:pt idx="1">
                  <c:v>E-books</c:v>
                </c:pt>
                <c:pt idx="2">
                  <c:v>Audiobooks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93</c:v>
                </c:pt>
                <c:pt idx="1">
                  <c:v>33</c:v>
                </c:pt>
                <c:pt idx="2">
                  <c:v>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8F-43FE-A1EA-8487457312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5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Relative strength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2BC-4237-9B1B-ABC9E344602D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2BC-4237-9B1B-ABC9E344602D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2BC-4237-9B1B-ABC9E344602D}"/>
              </c:ext>
            </c:extLst>
          </c:dPt>
          <c:dPt>
            <c:idx val="3"/>
            <c:invertIfNegative val="0"/>
            <c:bubble3D val="0"/>
            <c:spPr>
              <a:solidFill>
                <a:srgbClr val="C99B4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2BC-4237-9B1B-ABC9E344602D}"/>
              </c:ext>
            </c:extLst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2BC-4237-9B1B-ABC9E344602D}"/>
              </c:ext>
            </c:extLst>
          </c:dPt>
          <c:cat>
            <c:strRef>
              <c:f>Sheet1!$A$2:$A$6</c:f>
              <c:strCache>
                <c:ptCount val="5"/>
                <c:pt idx="0">
                  <c:v>Retired (employment)</c:v>
                </c:pt>
                <c:pt idx="1">
                  <c:v>Gender</c:v>
                </c:pt>
                <c:pt idx="2">
                  <c:v>Age</c:v>
                </c:pt>
                <c:pt idx="3">
                  <c:v>Income</c:v>
                </c:pt>
                <c:pt idx="4">
                  <c:v>Education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</c:v>
                </c:pt>
                <c:pt idx="1">
                  <c:v>1.5</c:v>
                </c:pt>
                <c:pt idx="2">
                  <c:v>2</c:v>
                </c:pt>
                <c:pt idx="3">
                  <c:v>3.3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2BC-4237-9B1B-ABC9E34460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B1B1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6111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" name="Google Shape;85;p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" name="Google Shape;104;p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7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7" name="Google Shape;137;p7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p8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0" name="Google Shape;150;p8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11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7" name="Google Shape;197;p11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2" name="Google Shape;212;p12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3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3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13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4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14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4" name="Google Shape;244;p14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4" name="Google Shape;264;p15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6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16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16:notes"/>
          <p:cNvSpPr txBox="1"/>
          <p:nvPr>
            <p:ph idx="12" type="sldNum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f852de93f6_0_0:notes"/>
          <p:cNvSpPr/>
          <p:nvPr>
            <p:ph idx="2" type="sldImg"/>
          </p:nvPr>
        </p:nvSpPr>
        <p:spPr>
          <a:xfrm>
            <a:off x="-228600" y="1524000"/>
            <a:ext cx="7315200" cy="4114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g3f852de93f6_0_0:notes"/>
          <p:cNvSpPr txBox="1"/>
          <p:nvPr>
            <p:ph idx="1" type="body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g3f852de93f6_0_0:notes"/>
          <p:cNvSpPr txBox="1"/>
          <p:nvPr>
            <p:ph idx="12" type="sldNum"/>
          </p:nvPr>
        </p:nvSpPr>
        <p:spPr>
          <a:xfrm>
            <a:off x="3884613" y="11580813"/>
            <a:ext cx="2971800" cy="611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hart" Target="../charts/chart1.xml"/><Relationship Id="rId4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chart" Target="../charts/chart2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243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0607040" y="-365760"/>
            <a:ext cx="2926080" cy="2926080"/>
          </a:xfrm>
          <a:prstGeom prst="ellipse">
            <a:avLst/>
          </a:prstGeom>
          <a:solidFill>
            <a:srgbClr val="2B38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243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/home/claude/reading_deck/NTI_logo_white.png" id="19" name="Google Shape;1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8" y="290227"/>
            <a:ext cx="2582815" cy="124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548640" y="1691635"/>
            <a:ext cx="8229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4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99B4A"/>
                </a:solidFill>
                <a:latin typeface="Calibri"/>
                <a:ea typeface="Calibri"/>
                <a:cs typeface="Calibri"/>
                <a:sym typeface="Calibri"/>
              </a:rPr>
              <a:t>READING BEHAVIOR STUDY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1874520"/>
            <a:ext cx="96927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What Predicts Reading Behavior?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3063240"/>
            <a:ext cx="8686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900"/>
              <a:buFont typeface="Calibri"/>
              <a:buNone/>
            </a:pPr>
            <a:r>
              <a:rPr b="0" i="1" lang="en-US" sz="19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 data-driven exploration of American reading habits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3886200"/>
            <a:ext cx="4206240" cy="1051560"/>
          </a:xfrm>
          <a:prstGeom prst="rect">
            <a:avLst/>
          </a:prstGeom>
          <a:solidFill>
            <a:srgbClr val="252F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77240" y="3977640"/>
            <a:ext cx="374904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4A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C99B4A"/>
                </a:solidFill>
                <a:latin typeface="Calibri"/>
                <a:ea typeface="Calibri"/>
                <a:cs typeface="Calibri"/>
                <a:sym typeface="Calibri"/>
              </a:rPr>
              <a:t>2,832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Americans surveyed on book-reading habits, demographics &amp; media consumption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" y="6172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2C4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792C4"/>
                </a:solidFill>
                <a:latin typeface="Calibri"/>
                <a:ea typeface="Calibri"/>
                <a:cs typeface="Calibri"/>
                <a:sym typeface="Calibri"/>
              </a:rPr>
              <a:t>Source: BigML American Reading Survey  •  Data Analysis Summary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Why Does This Matter?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Understanding who reads, and how much, informs decisions across four sectors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548640" y="1783080"/>
            <a:ext cx="2542032" cy="2331720"/>
          </a:xfrm>
          <a:prstGeom prst="rect">
            <a:avLst/>
          </a:prstGeom>
          <a:solidFill>
            <a:srgbClr val="F4F6FB"/>
          </a:solidFill>
          <a:ln>
            <a:noFill/>
          </a:ln>
          <a:effectLst>
            <a:outerShdw blurRad="76200" rotWithShape="0" algn="bl" dir="5400000" dist="25400">
              <a:srgbClr val="9AA5C7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1536192" y="2039112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536192" y="203911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12"/>
              <a:buFont typeface="Cambria"/>
              <a:buNone/>
            </a:pPr>
            <a:r>
              <a:rPr b="1" i="0" lang="en-US" sz="1612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P</a:t>
            </a:r>
            <a:endParaRPr b="0" i="0" sz="16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685800" y="2743200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Publishers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31520" y="3136392"/>
            <a:ext cx="21762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Target marketing and distribution to the readers most likely to buy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3346704" y="1783080"/>
            <a:ext cx="2542032" cy="2331720"/>
          </a:xfrm>
          <a:prstGeom prst="rect">
            <a:avLst/>
          </a:prstGeom>
          <a:solidFill>
            <a:srgbClr val="F4F6FB"/>
          </a:solidFill>
          <a:ln>
            <a:noFill/>
          </a:ln>
          <a:effectLst>
            <a:outerShdw blurRad="76200" rotWithShape="0" algn="bl" dir="5400000" dist="25400">
              <a:srgbClr val="9AA5C7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4334256" y="2039112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4334256" y="203911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12"/>
              <a:buFont typeface="Cambria"/>
              <a:buNone/>
            </a:pPr>
            <a:r>
              <a:rPr b="1" i="0" lang="en-US" sz="1612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L</a:t>
            </a:r>
            <a:endParaRPr b="0" i="0" sz="16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483864" y="2743200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Libraries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529584" y="3136392"/>
            <a:ext cx="21762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Allocate resources and programs to the communities that need them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144768" y="1783080"/>
            <a:ext cx="2542032" cy="2331720"/>
          </a:xfrm>
          <a:prstGeom prst="rect">
            <a:avLst/>
          </a:prstGeom>
          <a:solidFill>
            <a:srgbClr val="F4F6FB"/>
          </a:solidFill>
          <a:ln>
            <a:noFill/>
          </a:ln>
          <a:effectLst>
            <a:outerShdw blurRad="76200" rotWithShape="0" algn="bl" dir="5400000" dist="25400">
              <a:srgbClr val="9AA5C7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7132320" y="2039112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7132320" y="203911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12"/>
              <a:buFont typeface="Cambria"/>
              <a:buNone/>
            </a:pPr>
            <a:r>
              <a:rPr b="1" i="0" lang="en-US" sz="1612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E</a:t>
            </a:r>
            <a:endParaRPr b="0" i="0" sz="16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6281928" y="2743200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Education Policy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327648" y="3136392"/>
            <a:ext cx="21762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Understand literacy trends and lifelong learning outcomes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8942832" y="1783080"/>
            <a:ext cx="2542032" cy="2331720"/>
          </a:xfrm>
          <a:prstGeom prst="rect">
            <a:avLst/>
          </a:prstGeom>
          <a:solidFill>
            <a:srgbClr val="F4F6FB"/>
          </a:solidFill>
          <a:ln>
            <a:noFill/>
          </a:ln>
          <a:effectLst>
            <a:outerShdw blurRad="76200" rotWithShape="0" algn="bl" dir="5400000" dist="25400">
              <a:srgbClr val="9AA5C7">
                <a:alpha val="2509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9930384" y="2039112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9930384" y="2039112"/>
            <a:ext cx="566928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12"/>
              <a:buFont typeface="Cambria"/>
              <a:buNone/>
            </a:pPr>
            <a:r>
              <a:rPr b="1" i="0" lang="en-US" sz="1612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M</a:t>
            </a:r>
            <a:endParaRPr b="0" i="0" sz="161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9079992" y="2743200"/>
            <a:ext cx="22677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500"/>
              <a:buFont typeface="Cambria"/>
              <a:buNone/>
            </a:pPr>
            <a:r>
              <a:rPr b="1" i="0" lang="en-US" sz="15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Media Companies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9125712" y="3136392"/>
            <a:ext cx="2176272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Shape content strategy around real audience reading behavior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48640" y="4434840"/>
            <a:ext cx="1109167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914400" y="459028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9B4A"/>
                </a:solidFill>
                <a:latin typeface="Calibri"/>
                <a:ea typeface="Calibri"/>
                <a:cs typeface="Calibri"/>
                <a:sym typeface="Calibri"/>
              </a:rPr>
              <a:t>RESEARCH QUESTION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914400" y="4864608"/>
            <a:ext cx="1036015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Cambria"/>
              <a:buNone/>
            </a:pPr>
            <a:r>
              <a:rPr b="0" i="1" lang="en-US" sz="2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Can we predict heavy readers based solely on demographic features?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What we will discover</a:t>
            </a:r>
            <a:endParaRPr b="1" i="0" sz="3200" u="none" cap="none" strike="noStrike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1" lang="en-US" sz="1200" u="none" cap="none" strike="noStrike">
                <a:solidFill>
                  <a:srgbClr val="1F3762"/>
                </a:solidFill>
                <a:latin typeface="Cambria"/>
                <a:ea typeface="Cambria"/>
                <a:cs typeface="Cambria"/>
                <a:sym typeface="Cambria"/>
              </a:rPr>
              <a:t>To unlock this, we asked:</a:t>
            </a:r>
            <a:endParaRPr b="1" i="0" sz="1800" u="none" cap="none" strike="noStrike">
              <a:solidFill>
                <a:srgbClr val="1F3762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777240" y="6044184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520849" y="1548653"/>
            <a:ext cx="7936992" cy="43434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840889" y="1804685"/>
            <a:ext cx="7296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C99B4A"/>
                </a:solidFill>
                <a:latin typeface="Calibri"/>
                <a:ea typeface="Calibri"/>
                <a:cs typeface="Calibri"/>
                <a:sym typeface="Calibri"/>
              </a:rPr>
              <a:t>Key Questions:</a:t>
            </a:r>
            <a:endParaRPr b="1" i="0" sz="1200" u="none" cap="none" strike="noStrike">
              <a:solidFill>
                <a:srgbClr val="C99B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840889" y="2325893"/>
            <a:ext cx="100584" cy="100584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1087777" y="2303554"/>
            <a:ext cx="7022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 Reads and How much?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40889" y="2933969"/>
            <a:ext cx="100584" cy="100584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1087777" y="2890754"/>
            <a:ext cx="7022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demographics affect the reading habit?</a:t>
            </a:r>
            <a:r>
              <a:rPr b="0" i="0" lang="en-US" sz="1150" u="none" cap="none" strike="noStrike">
                <a:solidFill>
                  <a:schemeClr val="lt1"/>
                </a:solidFill>
                <a:latin typeface="Cambria"/>
                <a:ea typeface="Cambria"/>
                <a:cs typeface="Cambria"/>
                <a:sym typeface="Cambria"/>
              </a:rPr>
              <a:t>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840889" y="3542045"/>
            <a:ext cx="100584" cy="100584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1123114" y="4708298"/>
            <a:ext cx="702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How People read?</a:t>
            </a:r>
            <a:endParaRPr b="1" i="0" sz="11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840889" y="4150121"/>
            <a:ext cx="100584" cy="100584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1107165" y="3508787"/>
            <a:ext cx="702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Does Education affect ? And how much ?</a:t>
            </a:r>
            <a:endParaRPr b="1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840889" y="4758197"/>
            <a:ext cx="100584" cy="100584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1094240" y="4106074"/>
            <a:ext cx="70227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Do gender and income affect ? And how much 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840889" y="5366273"/>
            <a:ext cx="100584" cy="100584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1087777" y="5343935"/>
            <a:ext cx="7022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1" i="0" lang="en-US" sz="11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How to predict Heavy readers?</a:t>
            </a:r>
            <a:endParaRPr b="1" i="0" sz="11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Dataset Overview</a:t>
            </a:r>
            <a:endParaRPr b="1" i="0" sz="3200" u="none" cap="none" strike="noStrike">
              <a:solidFill>
                <a:srgbClr val="1E276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raw data before data cleaning and preprocessing</a:t>
            </a:r>
            <a:endParaRPr b="0" i="0" sz="1400" u="none" cap="none" strike="noStrike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1828800"/>
            <a:ext cx="3246120" cy="1417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77240" y="1828800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2,832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777240" y="2697480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Respondents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48640" y="3502152"/>
            <a:ext cx="3246120" cy="1417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777240" y="3502152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14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777240" y="4370832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Features captured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5175504"/>
            <a:ext cx="3246120" cy="1417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777240" y="5175504"/>
            <a:ext cx="2788920" cy="8686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Kaggle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777240" y="6044184"/>
            <a:ext cx="2788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Data source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0" name="Google Shape;10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8296" y="1825603"/>
            <a:ext cx="7456640" cy="47829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Statistical 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28282"/>
                </a:solidFill>
                <a:latin typeface="Calibri"/>
                <a:ea typeface="Calibri"/>
                <a:cs typeface="Calibri"/>
                <a:sym typeface="Calibri"/>
              </a:rPr>
              <a:t>The main Statistical measures such as mean, standard deviation and The five-number summary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5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900">
              <a:solidFill>
                <a:srgbClr val="6B728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7735" y="1442804"/>
            <a:ext cx="8722419" cy="44381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6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 Preprocessing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cleaned, imputation-ready dataset built for reliable modeling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40497" y="1463458"/>
            <a:ext cx="9711513" cy="4416468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839661" y="1792558"/>
            <a:ext cx="7296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9B4A"/>
                </a:solidFill>
                <a:latin typeface="Calibri"/>
                <a:ea typeface="Calibri"/>
                <a:cs typeface="Calibri"/>
                <a:sym typeface="Calibri"/>
              </a:rPr>
              <a:t>DATA CLEANING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839661" y="2313766"/>
            <a:ext cx="100584" cy="100584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1086549" y="2291427"/>
            <a:ext cx="7022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Missing values:  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58 missing in Education; 390 in reading columns (non-readers skipped)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839661" y="2921842"/>
            <a:ext cx="100584" cy="100584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086549" y="2878627"/>
            <a:ext cx="7022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entry error fixed:  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“9$100,000 to under $150,000” corrected to “$100,000 to under $150,000”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839661" y="3529918"/>
            <a:ext cx="100584" cy="100584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1086549" y="3497142"/>
            <a:ext cx="7022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 naming:  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“Employement” renamed to “employment”; all columns standardized to snake_case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839661" y="4137994"/>
            <a:ext cx="100584" cy="100584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1086549" y="4105218"/>
            <a:ext cx="7022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Missing Education:  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Imputed using the mode: “High school graduate”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839661" y="4746070"/>
            <a:ext cx="100584" cy="100584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1086549" y="4713294"/>
            <a:ext cx="7022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Reading columns:  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Non-readers set to 0; others imputed with the median by education level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839661" y="5354146"/>
            <a:ext cx="100584" cy="100584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1086549" y="5331808"/>
            <a:ext cx="70225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i="0" lang="en-US" sz="11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Outliers:  </a:t>
            </a: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IQR method — values capped at the upper fence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 Preprocessing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19100"/>
                </a:solidFill>
                <a:latin typeface="Calibri"/>
                <a:ea typeface="Calibri"/>
                <a:cs typeface="Calibri"/>
                <a:sym typeface="Calibri"/>
              </a:rPr>
              <a:t>Handling Missing Values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39661" y="1792558"/>
            <a:ext cx="7296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C99B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543754" y="1539865"/>
            <a:ext cx="9820071" cy="3816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Missing values: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58 missing in Education; 390 in reading columns (non-readers skipped)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5" name="Google Shape;14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993" y="1919875"/>
            <a:ext cx="5315603" cy="43126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26763" y="1916939"/>
            <a:ext cx="3829050" cy="4276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 Preprocessing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19100"/>
                </a:solidFill>
                <a:latin typeface="Calibri"/>
                <a:ea typeface="Calibri"/>
                <a:cs typeface="Calibri"/>
                <a:sym typeface="Calibri"/>
              </a:rPr>
              <a:t>Handling Duplicates &amp; Rename Columns' Names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839661" y="1792558"/>
            <a:ext cx="7296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C99B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543754" y="1539865"/>
            <a:ext cx="9820071" cy="559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Column naming: 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“Employement” renamed to “employment”; all columns standardized to snake_case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Duplicate removing: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row removed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11091672" y="647395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034" y="2095175"/>
            <a:ext cx="6615439" cy="2260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3577" y="4472444"/>
            <a:ext cx="6616351" cy="17753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Data Preprocessing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19100"/>
                </a:solidFill>
                <a:latin typeface="Calibri"/>
                <a:ea typeface="Calibri"/>
                <a:cs typeface="Calibri"/>
                <a:sym typeface="Calibri"/>
              </a:rPr>
              <a:t>Outlier Detection</a:t>
            </a:r>
            <a:endParaRPr b="0" i="0" sz="1800" u="none" cap="none" strike="noStrike">
              <a:solidFill>
                <a:srgbClr val="C191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839661" y="1792558"/>
            <a:ext cx="7296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b="1" i="0" sz="1200" u="none" cap="none" strike="noStrike">
              <a:solidFill>
                <a:srgbClr val="C99B4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543754" y="1539865"/>
            <a:ext cx="9820071" cy="287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Outliers: 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IQR method — values capped at the upper fence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1" name="Google Shape;17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536" y="1962151"/>
            <a:ext cx="7410189" cy="34973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Who Reads?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80% of Americans read at least one book in the past year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6309360" y="1737360"/>
            <a:ext cx="5330952" cy="12344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6583680" y="1737360"/>
            <a:ext cx="4782312" cy="123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4A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C99B4A"/>
                </a:solidFill>
                <a:latin typeface="Calibri"/>
                <a:ea typeface="Calibri"/>
                <a:cs typeface="Calibri"/>
                <a:sym typeface="Calibri"/>
              </a:rPr>
              <a:t>6 books/year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Median reading rate across all respondents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0"/>
          <p:cNvSpPr/>
          <p:nvPr/>
        </p:nvSpPr>
        <p:spPr>
          <a:xfrm>
            <a:off x="6309360" y="3200400"/>
            <a:ext cx="109728" cy="713232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6537960" y="317296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Heavy readers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6537960" y="349300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645 respondents — 22.8% read ≥ 21 books/year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6309360" y="4069080"/>
            <a:ext cx="109728" cy="713232"/>
          </a:xfrm>
          <a:prstGeom prst="rect">
            <a:avLst/>
          </a:prstGeom>
          <a:solidFill>
            <a:srgbClr val="3E4A8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6537960" y="404164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Light readers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6537960" y="436168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1,033 respondents 36.5%— % read 1–6 books/year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6309360" y="4937760"/>
            <a:ext cx="109728" cy="713232"/>
          </a:xfrm>
          <a:prstGeom prst="rect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537960" y="4910328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400"/>
              <a:buFont typeface="Cambria"/>
              <a:buNone/>
            </a:pPr>
            <a:r>
              <a:rPr b="1" i="0" lang="en-US" sz="14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Non-readers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6537960" y="5230368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390 respondents — 13.8% read 0 books last year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/>
          <p:nvPr/>
        </p:nvSpPr>
        <p:spPr>
          <a:xfrm>
            <a:off x="6309360" y="5715000"/>
            <a:ext cx="533095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Distribution is right-skewed: most readers read a few books, while a smaller, dedicated group reads heavily.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405" y="1883992"/>
            <a:ext cx="4675600" cy="3945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"/>
          <p:cNvSpPr/>
          <p:nvPr/>
        </p:nvSpPr>
        <p:spPr>
          <a:xfrm>
            <a:off x="548640" y="50292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Education Is the #1 Predictor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Average books read per year, by highest education level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7452360" y="1691640"/>
            <a:ext cx="4187952" cy="4160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7726680" y="1965960"/>
            <a:ext cx="363931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9B4A"/>
                </a:solidFill>
                <a:latin typeface="Calibri"/>
                <a:ea typeface="Calibri"/>
                <a:cs typeface="Calibri"/>
                <a:sym typeface="Calibri"/>
              </a:rPr>
              <a:t>KEY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7726680" y="2286000"/>
            <a:ext cx="363931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Cambria"/>
              <a:buNone/>
            </a:pPr>
            <a:r>
              <a:rPr b="0" i="1" lang="en-US" sz="165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A college graduate is more likely to be a heavy reader than a high school graduate, all else being equal.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4" name="Google Shape;204;p11"/>
          <p:cNvCxnSpPr/>
          <p:nvPr/>
        </p:nvCxnSpPr>
        <p:spPr>
          <a:xfrm>
            <a:off x="7726680" y="3977640"/>
            <a:ext cx="3639312" cy="0"/>
          </a:xfrm>
          <a:prstGeom prst="straightConnector1">
            <a:avLst/>
          </a:prstGeom>
          <a:noFill/>
          <a:ln cap="flat" cmpd="sng" w="12700">
            <a:solidFill>
              <a:srgbClr val="3E4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5" name="Google Shape;205;p11"/>
          <p:cNvSpPr/>
          <p:nvPr/>
        </p:nvSpPr>
        <p:spPr>
          <a:xfrm>
            <a:off x="7726680" y="4160520"/>
            <a:ext cx="363931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logistic regression model confirms education carries the largest coefficient of any feature — the strongest single predictor of heavy reading.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34" y="1681945"/>
            <a:ext cx="6284934" cy="4172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"/>
          <p:cNvSpPr/>
          <p:nvPr/>
        </p:nvSpPr>
        <p:spPr>
          <a:xfrm>
            <a:off x="548640" y="50292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Income &amp; Gender Also Matter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Two more demographic signals that correlate with reading volume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AVG BOOKS/YEAR BY INCOME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/>
          <p:nvPr/>
        </p:nvSpPr>
        <p:spPr>
          <a:xfrm>
            <a:off x="6492240" y="1691640"/>
            <a:ext cx="51480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READING BY GENDER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2"/>
          <p:cNvSpPr/>
          <p:nvPr/>
        </p:nvSpPr>
        <p:spPr>
          <a:xfrm>
            <a:off x="6492240" y="2057400"/>
            <a:ext cx="5148072" cy="1417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12"/>
          <p:cNvSpPr/>
          <p:nvPr/>
        </p:nvSpPr>
        <p:spPr>
          <a:xfrm>
            <a:off x="6766560" y="2057400"/>
            <a:ext cx="4599432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19.7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books/year — Female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6492240" y="3611880"/>
            <a:ext cx="5148072" cy="14173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6766560" y="3611880"/>
            <a:ext cx="4599432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4A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C99B4A"/>
                </a:solidFill>
                <a:latin typeface="Calibri"/>
                <a:ea typeface="Calibri"/>
                <a:cs typeface="Calibri"/>
                <a:sym typeface="Calibri"/>
              </a:rPr>
              <a:t>13.4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books/year — Male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6492240" y="5193792"/>
            <a:ext cx="5148072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Women read 6.3 more books/year than men on average — though the gap narrows once education and income are controlled for.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2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340" y="2053160"/>
            <a:ext cx="5155896" cy="40877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3"/>
          <p:cNvSpPr/>
          <p:nvPr/>
        </p:nvSpPr>
        <p:spPr>
          <a:xfrm>
            <a:off x="548640" y="502920"/>
            <a:ext cx="9784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Age Has a Non-Linear Relationship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3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Reading peaks in the retirement years, not at the oldest ages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/>
          <p:nvPr/>
        </p:nvSpPr>
        <p:spPr>
          <a:xfrm>
            <a:off x="7772400" y="1737360"/>
            <a:ext cx="3867912" cy="18745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3"/>
          <p:cNvSpPr/>
          <p:nvPr/>
        </p:nvSpPr>
        <p:spPr>
          <a:xfrm>
            <a:off x="8046720" y="1737360"/>
            <a:ext cx="3319272" cy="1874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4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C99B4A"/>
                </a:solidFill>
                <a:latin typeface="Calibri"/>
                <a:ea typeface="Calibri"/>
                <a:cs typeface="Calibri"/>
                <a:sym typeface="Calibri"/>
              </a:rPr>
              <a:t>~20 books/yr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Ages 65–74 read the most of any group — reading peaks in retirement, not steadily with age.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7772400" y="3794760"/>
            <a:ext cx="3867912" cy="18745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3"/>
          <p:cNvSpPr/>
          <p:nvPr/>
        </p:nvSpPr>
        <p:spPr>
          <a:xfrm>
            <a:off x="8046720" y="4023360"/>
            <a:ext cx="33192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EMPLOYMENT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/>
          <p:nvPr/>
        </p:nvSpPr>
        <p:spPr>
          <a:xfrm>
            <a:off x="8046720" y="4343400"/>
            <a:ext cx="331927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Retired respondents read slightly more on average. Employment status offers some signal, but is far less powerful than education or income.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0" name="Google Shape;240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4751" y="1455237"/>
            <a:ext cx="6614005" cy="46260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How People Read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4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Printed books still dominate, even as digital formats gain ground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4"/>
          <p:cNvSpPr/>
          <p:nvPr/>
        </p:nvSpPr>
        <p:spPr>
          <a:xfrm>
            <a:off x="548640" y="16916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FORMAT PREFERENCE (AMONG READERS)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9" name="Google Shape;249;p14"/>
          <p:cNvGraphicFramePr/>
          <p:nvPr/>
        </p:nvGraphicFramePr>
        <p:xfrm>
          <a:off x="228600" y="1965960"/>
          <a:ext cx="5394960" cy="196596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50" name="Google Shape;250;p14"/>
          <p:cNvSpPr/>
          <p:nvPr/>
        </p:nvSpPr>
        <p:spPr>
          <a:xfrm>
            <a:off x="548640" y="41605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HOW READERS ACQUIRE BOOKS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4"/>
          <p:cNvSpPr/>
          <p:nvPr/>
        </p:nvSpPr>
        <p:spPr>
          <a:xfrm>
            <a:off x="6720840" y="1691640"/>
            <a:ext cx="4919472" cy="470916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7040880" y="1965960"/>
            <a:ext cx="427939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4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99B4A"/>
                </a:solidFill>
                <a:latin typeface="Calibri"/>
                <a:ea typeface="Calibri"/>
                <a:cs typeface="Calibri"/>
                <a:sym typeface="Calibri"/>
              </a:rPr>
              <a:t>MEDIA CONSUMPTION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4"/>
          <p:cNvSpPr/>
          <p:nvPr/>
        </p:nvSpPr>
        <p:spPr>
          <a:xfrm>
            <a:off x="7040880" y="2423160"/>
            <a:ext cx="427939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61.8%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read daily news or newspapers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14"/>
          <p:cNvCxnSpPr/>
          <p:nvPr/>
        </p:nvCxnSpPr>
        <p:spPr>
          <a:xfrm>
            <a:off x="7040880" y="3703320"/>
            <a:ext cx="4279392" cy="0"/>
          </a:xfrm>
          <a:prstGeom prst="straightConnector1">
            <a:avLst/>
          </a:prstGeom>
          <a:noFill/>
          <a:ln cap="flat" cmpd="sng" w="12700">
            <a:solidFill>
              <a:srgbClr val="3E4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14"/>
          <p:cNvSpPr/>
          <p:nvPr/>
        </p:nvSpPr>
        <p:spPr>
          <a:xfrm>
            <a:off x="7040880" y="3886200"/>
            <a:ext cx="4279392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53.2%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read magazines or journals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14"/>
          <p:cNvCxnSpPr/>
          <p:nvPr/>
        </p:nvCxnSpPr>
        <p:spPr>
          <a:xfrm>
            <a:off x="7040880" y="5166360"/>
            <a:ext cx="4279392" cy="0"/>
          </a:xfrm>
          <a:prstGeom prst="straightConnector1">
            <a:avLst/>
          </a:prstGeom>
          <a:noFill/>
          <a:ln cap="flat" cmpd="sng" w="12700">
            <a:solidFill>
              <a:srgbClr val="3E4A8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7" name="Google Shape;257;p14"/>
          <p:cNvSpPr/>
          <p:nvPr/>
        </p:nvSpPr>
        <p:spPr>
          <a:xfrm>
            <a:off x="7040880" y="5349240"/>
            <a:ext cx="42793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Reading habits extend beyond books into news and periodicals for a majority of respondents.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0" name="Google Shape;260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3232" y="4440343"/>
            <a:ext cx="5104358" cy="19543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/>
          <p:nvPr/>
        </p:nvSpPr>
        <p:spPr>
          <a:xfrm>
            <a:off x="548640" y="502920"/>
            <a:ext cx="96012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1E2761"/>
                </a:solidFill>
                <a:latin typeface="Cambria"/>
                <a:ea typeface="Cambria"/>
                <a:cs typeface="Cambria"/>
                <a:sym typeface="Cambria"/>
              </a:rPr>
              <a:t>Predicting Heavy Readers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5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Logistic regression — classifying heavy readers (≥10 books) vs. all others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FEATURE IMPORTANCE (MODEL COEFFICIENTS)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9" name="Google Shape;269;p15"/>
          <p:cNvGraphicFramePr/>
          <p:nvPr/>
        </p:nvGraphicFramePr>
        <p:xfrm>
          <a:off x="182880" y="1965960"/>
          <a:ext cx="6309360" cy="3977640"/>
        </p:xfrm>
        <a:graphic>
          <a:graphicData uri="http://schemas.openxmlformats.org/drawingml/2006/chart">
            <c:chart r:id="rId3"/>
          </a:graphicData>
        </a:graphic>
      </p:graphicFrame>
      <p:sp>
        <p:nvSpPr>
          <p:cNvPr id="270" name="Google Shape;270;p15"/>
          <p:cNvSpPr/>
          <p:nvPr/>
        </p:nvSpPr>
        <p:spPr>
          <a:xfrm>
            <a:off x="6446520" y="1691640"/>
            <a:ext cx="5193792" cy="192024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6720840" y="1874520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FEATURES USED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5"/>
          <p:cNvSpPr/>
          <p:nvPr/>
        </p:nvSpPr>
        <p:spPr>
          <a:xfrm>
            <a:off x="6720840" y="2194560"/>
            <a:ext cx="4645152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Age, gender, education, employment, income, and marital status.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6446520" y="3794760"/>
            <a:ext cx="5193792" cy="214884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6720840" y="3977640"/>
            <a:ext cx="46451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4A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99B4A"/>
                </a:solidFill>
                <a:latin typeface="Calibri"/>
                <a:ea typeface="Calibri"/>
                <a:cs typeface="Calibri"/>
                <a:sym typeface="Calibri"/>
              </a:rPr>
              <a:t>MODEL PERFORMANCE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6720840" y="4297680"/>
            <a:ext cx="4645152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Meaningful accuracy improvement over a random baseline, using balanced class weights to correct for the 22.6% heavy-reader imbalance. Education and income are the dominant factors in every prediction.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5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243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6"/>
          <p:cNvSpPr/>
          <p:nvPr/>
        </p:nvSpPr>
        <p:spPr>
          <a:xfrm>
            <a:off x="548640" y="5029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Key Takeaways &amp; Limitations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6"/>
          <p:cNvSpPr/>
          <p:nvPr/>
        </p:nvSpPr>
        <p:spPr>
          <a:xfrm>
            <a:off x="548640" y="1280160"/>
            <a:ext cx="6492240" cy="5074920"/>
          </a:xfrm>
          <a:prstGeom prst="rect">
            <a:avLst/>
          </a:prstGeom>
          <a:solidFill>
            <a:srgbClr val="232C6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6"/>
          <p:cNvSpPr/>
          <p:nvPr/>
        </p:nvSpPr>
        <p:spPr>
          <a:xfrm>
            <a:off x="868680" y="1508760"/>
            <a:ext cx="5852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9B4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99B4A"/>
                </a:solidFill>
                <a:latin typeface="Calibri"/>
                <a:ea typeface="Calibri"/>
                <a:cs typeface="Calibri"/>
                <a:sym typeface="Calibri"/>
              </a:rPr>
              <a:t>WHAT WE FOUND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6"/>
          <p:cNvSpPr/>
          <p:nvPr/>
        </p:nvSpPr>
        <p:spPr>
          <a:xfrm>
            <a:off x="868680" y="2002536"/>
            <a:ext cx="91440" cy="91440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16"/>
          <p:cNvSpPr/>
          <p:nvPr/>
        </p:nvSpPr>
        <p:spPr>
          <a:xfrm>
            <a:off x="1139033" y="1961910"/>
            <a:ext cx="5644437" cy="598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80% of Americans read at least one book last year — median of 6 books/year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868680" y="2628900"/>
            <a:ext cx="91440" cy="91440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1097280" y="2588274"/>
            <a:ext cx="5623560" cy="566928"/>
          </a:xfrm>
          <a:prstGeom prst="rect">
            <a:avLst/>
          </a:prstGeom>
          <a:noFill/>
          <a:ln cap="flat" cmpd="sng" w="9525">
            <a:solidFill>
              <a:srgbClr val="232C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Education is the #1 predictor: post-graduates read ~2x more than HS dropouts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868680" y="3255264"/>
            <a:ext cx="91440" cy="91440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1097280" y="3204200"/>
            <a:ext cx="5623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Income strongly correlates — higher earners read more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6"/>
          <p:cNvSpPr/>
          <p:nvPr/>
        </p:nvSpPr>
        <p:spPr>
          <a:xfrm>
            <a:off x="868680" y="3881628"/>
            <a:ext cx="91440" cy="91440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6"/>
          <p:cNvSpPr/>
          <p:nvPr/>
        </p:nvSpPr>
        <p:spPr>
          <a:xfrm>
            <a:off x="1097280" y="3830564"/>
            <a:ext cx="5623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 is non-linear: reading peaks among 65–74 year-olds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868680" y="4507992"/>
            <a:ext cx="91440" cy="91440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1097280" y="4456928"/>
            <a:ext cx="5623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Women read more than men: 19.7 vs. 13.4 books/year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868680" y="5134356"/>
            <a:ext cx="91440" cy="91440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6"/>
          <p:cNvSpPr/>
          <p:nvPr/>
        </p:nvSpPr>
        <p:spPr>
          <a:xfrm>
            <a:off x="1097280" y="5093730"/>
            <a:ext cx="5623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Print still dominates (93%), though 33% also read e-books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6"/>
          <p:cNvSpPr/>
          <p:nvPr/>
        </p:nvSpPr>
        <p:spPr>
          <a:xfrm>
            <a:off x="868680" y="5760720"/>
            <a:ext cx="91440" cy="91440"/>
          </a:xfrm>
          <a:prstGeom prst="ellipse">
            <a:avLst/>
          </a:prstGeom>
          <a:solidFill>
            <a:srgbClr val="C99B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1097280" y="5720094"/>
            <a:ext cx="56235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logistic regression model predicts heavy readers with meaningful accuracy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7360920" y="1280160"/>
            <a:ext cx="4279392" cy="5074920"/>
          </a:xfrm>
          <a:prstGeom prst="rect">
            <a:avLst/>
          </a:prstGeom>
          <a:solidFill>
            <a:srgbClr val="F3E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7635240" y="1508760"/>
            <a:ext cx="373075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LIMITATIONS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6"/>
          <p:cNvSpPr/>
          <p:nvPr/>
        </p:nvSpPr>
        <p:spPr>
          <a:xfrm>
            <a:off x="7635240" y="2002536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6"/>
          <p:cNvSpPr/>
          <p:nvPr/>
        </p:nvSpPr>
        <p:spPr>
          <a:xfrm>
            <a:off x="7863840" y="1878403"/>
            <a:ext cx="35021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“97” represents “97 or more” books — likely underestimates heavy readers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7635240" y="3063240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7863840" y="2970422"/>
            <a:ext cx="35021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Survey data may carry response bias (readers more likely to respond)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/>
          <p:nvPr/>
        </p:nvSpPr>
        <p:spPr>
          <a:xfrm>
            <a:off x="7635240" y="4123944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6"/>
          <p:cNvSpPr/>
          <p:nvPr/>
        </p:nvSpPr>
        <p:spPr>
          <a:xfrm>
            <a:off x="7863840" y="4010249"/>
            <a:ext cx="35021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Only demographic features used; psychological and lifestyle data would improve predictions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6"/>
          <p:cNvSpPr/>
          <p:nvPr/>
        </p:nvSpPr>
        <p:spPr>
          <a:xfrm>
            <a:off x="7635240" y="5184648"/>
            <a:ext cx="91440" cy="91440"/>
          </a:xfrm>
          <a:prstGeom prst="ellipse">
            <a:avLst/>
          </a:prstGeom>
          <a:solidFill>
            <a:srgbClr val="1E276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16"/>
          <p:cNvSpPr/>
          <p:nvPr/>
        </p:nvSpPr>
        <p:spPr>
          <a:xfrm>
            <a:off x="7863840" y="5144022"/>
            <a:ext cx="3502152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B1B1F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1B1B1F"/>
                </a:solidFill>
                <a:latin typeface="Calibri"/>
                <a:ea typeface="Calibri"/>
                <a:cs typeface="Calibri"/>
                <a:sym typeface="Calibri"/>
              </a:rPr>
              <a:t>No time period or geographic information included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6"/>
          <p:cNvSpPr/>
          <p:nvPr/>
        </p:nvSpPr>
        <p:spPr>
          <a:xfrm>
            <a:off x="1318628" y="6473952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2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792C4"/>
                </a:solidFill>
                <a:latin typeface="Calibri"/>
                <a:ea typeface="Calibri"/>
                <a:cs typeface="Calibri"/>
                <a:sym typeface="Calibri"/>
              </a:rPr>
              <a:t>What Predicts Reading Behavior?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6"/>
          <p:cNvSpPr/>
          <p:nvPr/>
        </p:nvSpPr>
        <p:spPr>
          <a:xfrm>
            <a:off x="11091672" y="6473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2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792C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8792C4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852de93f6_0_0"/>
          <p:cNvSpPr/>
          <p:nvPr/>
        </p:nvSpPr>
        <p:spPr>
          <a:xfrm>
            <a:off x="11091672" y="6473952"/>
            <a:ext cx="548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792C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792C4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8792C4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g3f852de93f6_0_0"/>
          <p:cNvSpPr/>
          <p:nvPr/>
        </p:nvSpPr>
        <p:spPr>
          <a:xfrm>
            <a:off x="1066790" y="3154645"/>
            <a:ext cx="100584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mbria"/>
              <a:buNone/>
            </a:pPr>
            <a:r>
              <a:rPr b="1" lang="en-US" sz="6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g3f852de93f6_0_0"/>
          <p:cNvSpPr/>
          <p:nvPr/>
        </p:nvSpPr>
        <p:spPr>
          <a:xfrm>
            <a:off x="9692640" y="-1463040"/>
            <a:ext cx="4755000" cy="4755000"/>
          </a:xfrm>
          <a:prstGeom prst="ellipse">
            <a:avLst/>
          </a:prstGeom>
          <a:solidFill>
            <a:srgbClr val="243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g3f852de93f6_0_0"/>
          <p:cNvSpPr/>
          <p:nvPr/>
        </p:nvSpPr>
        <p:spPr>
          <a:xfrm>
            <a:off x="10607040" y="-365760"/>
            <a:ext cx="2926200" cy="2926200"/>
          </a:xfrm>
          <a:prstGeom prst="ellipse">
            <a:avLst/>
          </a:prstGeom>
          <a:solidFill>
            <a:srgbClr val="2B387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g3f852de93f6_0_0"/>
          <p:cNvSpPr/>
          <p:nvPr/>
        </p:nvSpPr>
        <p:spPr>
          <a:xfrm>
            <a:off x="-1280160" y="4572000"/>
            <a:ext cx="3291900" cy="3291900"/>
          </a:xfrm>
          <a:prstGeom prst="ellipse">
            <a:avLst/>
          </a:prstGeom>
          <a:solidFill>
            <a:srgbClr val="24306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2026-08-21T19:57:19Z</dcterms:created>
  <dc:creator>PptxGenJS</dc:creator>
</cp:coreProperties>
</file>